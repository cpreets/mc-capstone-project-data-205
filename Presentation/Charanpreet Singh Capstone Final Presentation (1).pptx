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464C2C-B83F-3A64-3D27-868B5663FFD4}" v="624" dt="2026-05-11T15:29:19.7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183E02-88B8-4D7A-A678-4AF20FACD52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3B9B2B6-8F63-4EDE-B0A1-483A56332317}">
      <dgm:prSet/>
      <dgm:spPr/>
      <dgm:t>
        <a:bodyPr/>
        <a:lstStyle/>
        <a:p>
          <a:r>
            <a:rPr lang="en-US"/>
            <a:t>Long-Term Growth</a:t>
          </a:r>
        </a:p>
      </dgm:t>
    </dgm:pt>
    <dgm:pt modelId="{41A1DB9E-5F8E-482D-BFB7-4E17C9F57F48}" type="parTrans" cxnId="{2FEFDB86-7E49-4329-A48B-861640C905A5}">
      <dgm:prSet/>
      <dgm:spPr/>
      <dgm:t>
        <a:bodyPr/>
        <a:lstStyle/>
        <a:p>
          <a:endParaRPr lang="en-US"/>
        </a:p>
      </dgm:t>
    </dgm:pt>
    <dgm:pt modelId="{A97E0BFB-7B32-463F-8293-B1507157A0D7}" type="sibTrans" cxnId="{2FEFDB86-7E49-4329-A48B-861640C905A5}">
      <dgm:prSet/>
      <dgm:spPr/>
      <dgm:t>
        <a:bodyPr/>
        <a:lstStyle/>
        <a:p>
          <a:endParaRPr lang="en-US"/>
        </a:p>
      </dgm:t>
    </dgm:pt>
    <dgm:pt modelId="{15455BD3-731C-48B1-96CE-6B64D190DD03}">
      <dgm:prSet/>
      <dgm:spPr/>
      <dgm:t>
        <a:bodyPr/>
        <a:lstStyle/>
        <a:p>
          <a:r>
            <a:rPr lang="en-US"/>
            <a:t>Measures total housing appreciation over time </a:t>
          </a:r>
        </a:p>
      </dgm:t>
    </dgm:pt>
    <dgm:pt modelId="{A8355EE1-52CD-48BB-B50A-D28F373B7EDA}" type="parTrans" cxnId="{9EBAF28E-ABDF-4A9C-9F26-65045771E3FD}">
      <dgm:prSet/>
      <dgm:spPr/>
      <dgm:t>
        <a:bodyPr/>
        <a:lstStyle/>
        <a:p>
          <a:endParaRPr lang="en-US"/>
        </a:p>
      </dgm:t>
    </dgm:pt>
    <dgm:pt modelId="{FCF9E84F-2082-4DFC-93F8-274016B8E9C3}" type="sibTrans" cxnId="{9EBAF28E-ABDF-4A9C-9F26-65045771E3FD}">
      <dgm:prSet/>
      <dgm:spPr/>
      <dgm:t>
        <a:bodyPr/>
        <a:lstStyle/>
        <a:p>
          <a:endParaRPr lang="en-US"/>
        </a:p>
      </dgm:t>
    </dgm:pt>
    <dgm:pt modelId="{096A395F-FE37-4A9E-B2DE-256318B35D38}">
      <dgm:prSet/>
      <dgm:spPr/>
      <dgm:t>
        <a:bodyPr/>
        <a:lstStyle/>
        <a:p>
          <a:r>
            <a:rPr lang="en-US"/>
            <a:t>Higher growth may indicate stronger returns </a:t>
          </a:r>
        </a:p>
      </dgm:t>
    </dgm:pt>
    <dgm:pt modelId="{FBE1EC52-4870-486A-BF91-7AA8CCB7B4F3}" type="parTrans" cxnId="{CE55F362-B796-40F8-9AD1-AE5AE3F00756}">
      <dgm:prSet/>
      <dgm:spPr/>
      <dgm:t>
        <a:bodyPr/>
        <a:lstStyle/>
        <a:p>
          <a:endParaRPr lang="en-US"/>
        </a:p>
      </dgm:t>
    </dgm:pt>
    <dgm:pt modelId="{641CC75E-6D8B-47C2-8285-3A3487393B7B}" type="sibTrans" cxnId="{CE55F362-B796-40F8-9AD1-AE5AE3F00756}">
      <dgm:prSet/>
      <dgm:spPr/>
      <dgm:t>
        <a:bodyPr/>
        <a:lstStyle/>
        <a:p>
          <a:endParaRPr lang="en-US"/>
        </a:p>
      </dgm:t>
    </dgm:pt>
    <dgm:pt modelId="{9CF1E0B1-4175-4591-BA8F-DF6EF62E8782}">
      <dgm:prSet/>
      <dgm:spPr/>
      <dgm:t>
        <a:bodyPr/>
        <a:lstStyle/>
        <a:p>
          <a:r>
            <a:rPr lang="en-US"/>
            <a:t>Volatility</a:t>
          </a:r>
        </a:p>
      </dgm:t>
    </dgm:pt>
    <dgm:pt modelId="{E7DA8AF1-44A7-4F46-B1F5-C2A2EC606DB4}" type="parTrans" cxnId="{B5548AAB-8ED3-4B8E-830B-4B3F2DBD30A8}">
      <dgm:prSet/>
      <dgm:spPr/>
      <dgm:t>
        <a:bodyPr/>
        <a:lstStyle/>
        <a:p>
          <a:endParaRPr lang="en-US"/>
        </a:p>
      </dgm:t>
    </dgm:pt>
    <dgm:pt modelId="{100AC672-FBD2-4018-B26A-68C186EC2A74}" type="sibTrans" cxnId="{B5548AAB-8ED3-4B8E-830B-4B3F2DBD30A8}">
      <dgm:prSet/>
      <dgm:spPr/>
      <dgm:t>
        <a:bodyPr/>
        <a:lstStyle/>
        <a:p>
          <a:endParaRPr lang="en-US"/>
        </a:p>
      </dgm:t>
    </dgm:pt>
    <dgm:pt modelId="{C4B1C60C-0DC7-4B05-8FA0-79E400173667}">
      <dgm:prSet/>
      <dgm:spPr/>
      <dgm:t>
        <a:bodyPr/>
        <a:lstStyle/>
        <a:p>
          <a:r>
            <a:rPr lang="en-US"/>
            <a:t>Measures fluctuations in monthly housing price changes </a:t>
          </a:r>
        </a:p>
      </dgm:t>
    </dgm:pt>
    <dgm:pt modelId="{B67168D8-17B7-4D2F-A7ED-F00230C29513}" type="parTrans" cxnId="{34034590-F873-4ECB-B573-A753FFC72DDF}">
      <dgm:prSet/>
      <dgm:spPr/>
      <dgm:t>
        <a:bodyPr/>
        <a:lstStyle/>
        <a:p>
          <a:endParaRPr lang="en-US"/>
        </a:p>
      </dgm:t>
    </dgm:pt>
    <dgm:pt modelId="{A171E12D-3CFE-48B6-9A94-FC2B5307C855}" type="sibTrans" cxnId="{34034590-F873-4ECB-B573-A753FFC72DDF}">
      <dgm:prSet/>
      <dgm:spPr/>
      <dgm:t>
        <a:bodyPr/>
        <a:lstStyle/>
        <a:p>
          <a:endParaRPr lang="en-US"/>
        </a:p>
      </dgm:t>
    </dgm:pt>
    <dgm:pt modelId="{20D6A797-636A-438C-8A47-8E8D9DB5B23B}">
      <dgm:prSet/>
      <dgm:spPr/>
      <dgm:t>
        <a:bodyPr/>
        <a:lstStyle/>
        <a:p>
          <a:r>
            <a:rPr lang="en-US"/>
            <a:t>Lower volatility may indicate more stable markets </a:t>
          </a:r>
        </a:p>
      </dgm:t>
    </dgm:pt>
    <dgm:pt modelId="{748DF475-9E1A-48A1-A191-7FD1380F451F}" type="parTrans" cxnId="{36BD928F-4FA2-468D-B1A7-DF2820D1561E}">
      <dgm:prSet/>
      <dgm:spPr/>
      <dgm:t>
        <a:bodyPr/>
        <a:lstStyle/>
        <a:p>
          <a:endParaRPr lang="en-US"/>
        </a:p>
      </dgm:t>
    </dgm:pt>
    <dgm:pt modelId="{FC481D7E-1BF4-4644-B901-EE48A27533E8}" type="sibTrans" cxnId="{36BD928F-4FA2-468D-B1A7-DF2820D1561E}">
      <dgm:prSet/>
      <dgm:spPr/>
      <dgm:t>
        <a:bodyPr/>
        <a:lstStyle/>
        <a:p>
          <a:endParaRPr lang="en-US"/>
        </a:p>
      </dgm:t>
    </dgm:pt>
    <dgm:pt modelId="{066404A5-C238-40E2-97CB-E1ABEECFD686}">
      <dgm:prSet/>
      <dgm:spPr/>
      <dgm:t>
        <a:bodyPr/>
        <a:lstStyle/>
        <a:p>
          <a:r>
            <a:rPr lang="en-US"/>
            <a:t>Affordability Ratio</a:t>
          </a:r>
        </a:p>
      </dgm:t>
    </dgm:pt>
    <dgm:pt modelId="{EC63CE34-3E8F-4EDE-A18A-E7C2F641537F}" type="parTrans" cxnId="{11552B7C-F74E-4ED7-BB65-5ADC1F792D61}">
      <dgm:prSet/>
      <dgm:spPr/>
      <dgm:t>
        <a:bodyPr/>
        <a:lstStyle/>
        <a:p>
          <a:endParaRPr lang="en-US"/>
        </a:p>
      </dgm:t>
    </dgm:pt>
    <dgm:pt modelId="{008770D9-B581-409B-AAF6-4DF4C4D12E4D}" type="sibTrans" cxnId="{11552B7C-F74E-4ED7-BB65-5ADC1F792D61}">
      <dgm:prSet/>
      <dgm:spPr/>
      <dgm:t>
        <a:bodyPr/>
        <a:lstStyle/>
        <a:p>
          <a:endParaRPr lang="en-US"/>
        </a:p>
      </dgm:t>
    </dgm:pt>
    <dgm:pt modelId="{3D4A8BB5-E466-435F-A714-1D1113011793}">
      <dgm:prSet/>
      <dgm:spPr/>
      <dgm:t>
        <a:bodyPr/>
        <a:lstStyle/>
        <a:p>
          <a:r>
            <a:rPr lang="en-US"/>
            <a:t>Compared housing prices relative to local median income </a:t>
          </a:r>
        </a:p>
      </dgm:t>
    </dgm:pt>
    <dgm:pt modelId="{B0236E84-FFE2-4F34-B6D6-6C42AD0CE2E8}" type="parTrans" cxnId="{7C4B0F32-4C72-49A5-92B9-ABC63F389DE6}">
      <dgm:prSet/>
      <dgm:spPr/>
      <dgm:t>
        <a:bodyPr/>
        <a:lstStyle/>
        <a:p>
          <a:endParaRPr lang="en-US"/>
        </a:p>
      </dgm:t>
    </dgm:pt>
    <dgm:pt modelId="{1C42E589-6C7A-45B8-BB1B-01AE4001D47E}" type="sibTrans" cxnId="{7C4B0F32-4C72-49A5-92B9-ABC63F389DE6}">
      <dgm:prSet/>
      <dgm:spPr/>
      <dgm:t>
        <a:bodyPr/>
        <a:lstStyle/>
        <a:p>
          <a:endParaRPr lang="en-US"/>
        </a:p>
      </dgm:t>
    </dgm:pt>
    <dgm:pt modelId="{56E5DC2C-24B5-4655-9FB9-64DBC294EA04}">
      <dgm:prSet/>
      <dgm:spPr/>
      <dgm:t>
        <a:bodyPr/>
        <a:lstStyle/>
        <a:p>
          <a:r>
            <a:rPr lang="en-US"/>
            <a:t>Lower ratios indicate stronger affordability support</a:t>
          </a:r>
        </a:p>
      </dgm:t>
    </dgm:pt>
    <dgm:pt modelId="{5AD205C5-517F-43FB-B7B3-76C2BD4568FA}" type="parTrans" cxnId="{E4061D4C-2A4B-4289-89DA-BC6BE1A01863}">
      <dgm:prSet/>
      <dgm:spPr/>
      <dgm:t>
        <a:bodyPr/>
        <a:lstStyle/>
        <a:p>
          <a:endParaRPr lang="en-US"/>
        </a:p>
      </dgm:t>
    </dgm:pt>
    <dgm:pt modelId="{EA78F740-4F7A-42E7-B33D-6CFDD0CCB0A1}" type="sibTrans" cxnId="{E4061D4C-2A4B-4289-89DA-BC6BE1A01863}">
      <dgm:prSet/>
      <dgm:spPr/>
      <dgm:t>
        <a:bodyPr/>
        <a:lstStyle/>
        <a:p>
          <a:endParaRPr lang="en-US"/>
        </a:p>
      </dgm:t>
    </dgm:pt>
    <dgm:pt modelId="{C8F8F24E-12A6-4DB7-BE03-B81EA7263608}" type="pres">
      <dgm:prSet presAssocID="{9A183E02-88B8-4D7A-A678-4AF20FACD526}" presName="linear" presStyleCnt="0">
        <dgm:presLayoutVars>
          <dgm:animLvl val="lvl"/>
          <dgm:resizeHandles val="exact"/>
        </dgm:presLayoutVars>
      </dgm:prSet>
      <dgm:spPr/>
    </dgm:pt>
    <dgm:pt modelId="{B0070090-0F8A-47FB-85CD-D2F058A966F0}" type="pres">
      <dgm:prSet presAssocID="{13B9B2B6-8F63-4EDE-B0A1-483A5633231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0D44FBF-6FB9-42F7-ADFE-687013D14658}" type="pres">
      <dgm:prSet presAssocID="{13B9B2B6-8F63-4EDE-B0A1-483A56332317}" presName="childText" presStyleLbl="revTx" presStyleIdx="0" presStyleCnt="3">
        <dgm:presLayoutVars>
          <dgm:bulletEnabled val="1"/>
        </dgm:presLayoutVars>
      </dgm:prSet>
      <dgm:spPr/>
    </dgm:pt>
    <dgm:pt modelId="{4A489ACB-FB8B-4295-B0BE-551CB1413B18}" type="pres">
      <dgm:prSet presAssocID="{9CF1E0B1-4175-4591-BA8F-DF6EF62E878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94A0509-4C47-423A-8A7C-FF04A3DE8F81}" type="pres">
      <dgm:prSet presAssocID="{9CF1E0B1-4175-4591-BA8F-DF6EF62E8782}" presName="childText" presStyleLbl="revTx" presStyleIdx="1" presStyleCnt="3">
        <dgm:presLayoutVars>
          <dgm:bulletEnabled val="1"/>
        </dgm:presLayoutVars>
      </dgm:prSet>
      <dgm:spPr/>
    </dgm:pt>
    <dgm:pt modelId="{FD7DD62E-EC99-4C67-BE00-62D4E610CED0}" type="pres">
      <dgm:prSet presAssocID="{066404A5-C238-40E2-97CB-E1ABEECFD68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720B934-7E69-4E1D-87BA-33F87DD2C5E6}" type="pres">
      <dgm:prSet presAssocID="{066404A5-C238-40E2-97CB-E1ABEECFD686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ED96109-7CEC-4467-A3F8-713003494082}" type="presOf" srcId="{9CF1E0B1-4175-4591-BA8F-DF6EF62E8782}" destId="{4A489ACB-FB8B-4295-B0BE-551CB1413B18}" srcOrd="0" destOrd="0" presId="urn:microsoft.com/office/officeart/2005/8/layout/vList2"/>
    <dgm:cxn modelId="{4CDFA211-1BA3-429F-94B4-3D5AB71F902A}" type="presOf" srcId="{13B9B2B6-8F63-4EDE-B0A1-483A56332317}" destId="{B0070090-0F8A-47FB-85CD-D2F058A966F0}" srcOrd="0" destOrd="0" presId="urn:microsoft.com/office/officeart/2005/8/layout/vList2"/>
    <dgm:cxn modelId="{7C4B0F32-4C72-49A5-92B9-ABC63F389DE6}" srcId="{066404A5-C238-40E2-97CB-E1ABEECFD686}" destId="{3D4A8BB5-E466-435F-A714-1D1113011793}" srcOrd="0" destOrd="0" parTransId="{B0236E84-FFE2-4F34-B6D6-6C42AD0CE2E8}" sibTransId="{1C42E589-6C7A-45B8-BB1B-01AE4001D47E}"/>
    <dgm:cxn modelId="{D0A73C5B-8DF2-4B2B-B1A4-7C30DCD2C868}" type="presOf" srcId="{C4B1C60C-0DC7-4B05-8FA0-79E400173667}" destId="{C94A0509-4C47-423A-8A7C-FF04A3DE8F81}" srcOrd="0" destOrd="0" presId="urn:microsoft.com/office/officeart/2005/8/layout/vList2"/>
    <dgm:cxn modelId="{CE55F362-B796-40F8-9AD1-AE5AE3F00756}" srcId="{13B9B2B6-8F63-4EDE-B0A1-483A56332317}" destId="{096A395F-FE37-4A9E-B2DE-256318B35D38}" srcOrd="1" destOrd="0" parTransId="{FBE1EC52-4870-486A-BF91-7AA8CCB7B4F3}" sibTransId="{641CC75E-6D8B-47C2-8285-3A3487393B7B}"/>
    <dgm:cxn modelId="{D2A3AE47-3668-46D1-8E2A-4ABA16D88C1A}" type="presOf" srcId="{096A395F-FE37-4A9E-B2DE-256318B35D38}" destId="{B0D44FBF-6FB9-42F7-ADFE-687013D14658}" srcOrd="0" destOrd="1" presId="urn:microsoft.com/office/officeart/2005/8/layout/vList2"/>
    <dgm:cxn modelId="{E4061D4C-2A4B-4289-89DA-BC6BE1A01863}" srcId="{066404A5-C238-40E2-97CB-E1ABEECFD686}" destId="{56E5DC2C-24B5-4655-9FB9-64DBC294EA04}" srcOrd="1" destOrd="0" parTransId="{5AD205C5-517F-43FB-B7B3-76C2BD4568FA}" sibTransId="{EA78F740-4F7A-42E7-B33D-6CFDD0CCB0A1}"/>
    <dgm:cxn modelId="{11552B7C-F74E-4ED7-BB65-5ADC1F792D61}" srcId="{9A183E02-88B8-4D7A-A678-4AF20FACD526}" destId="{066404A5-C238-40E2-97CB-E1ABEECFD686}" srcOrd="2" destOrd="0" parTransId="{EC63CE34-3E8F-4EDE-A18A-E7C2F641537F}" sibTransId="{008770D9-B581-409B-AAF6-4DF4C4D12E4D}"/>
    <dgm:cxn modelId="{2FEFDB86-7E49-4329-A48B-861640C905A5}" srcId="{9A183E02-88B8-4D7A-A678-4AF20FACD526}" destId="{13B9B2B6-8F63-4EDE-B0A1-483A56332317}" srcOrd="0" destOrd="0" parTransId="{41A1DB9E-5F8E-482D-BFB7-4E17C9F57F48}" sibTransId="{A97E0BFB-7B32-463F-8293-B1507157A0D7}"/>
    <dgm:cxn modelId="{9EBAF28E-ABDF-4A9C-9F26-65045771E3FD}" srcId="{13B9B2B6-8F63-4EDE-B0A1-483A56332317}" destId="{15455BD3-731C-48B1-96CE-6B64D190DD03}" srcOrd="0" destOrd="0" parTransId="{A8355EE1-52CD-48BB-B50A-D28F373B7EDA}" sibTransId="{FCF9E84F-2082-4DFC-93F8-274016B8E9C3}"/>
    <dgm:cxn modelId="{36BD928F-4FA2-468D-B1A7-DF2820D1561E}" srcId="{9CF1E0B1-4175-4591-BA8F-DF6EF62E8782}" destId="{20D6A797-636A-438C-8A47-8E8D9DB5B23B}" srcOrd="1" destOrd="0" parTransId="{748DF475-9E1A-48A1-A191-7FD1380F451F}" sibTransId="{FC481D7E-1BF4-4644-B901-EE48A27533E8}"/>
    <dgm:cxn modelId="{34034590-F873-4ECB-B573-A753FFC72DDF}" srcId="{9CF1E0B1-4175-4591-BA8F-DF6EF62E8782}" destId="{C4B1C60C-0DC7-4B05-8FA0-79E400173667}" srcOrd="0" destOrd="0" parTransId="{B67168D8-17B7-4D2F-A7ED-F00230C29513}" sibTransId="{A171E12D-3CFE-48B6-9A94-FC2B5307C855}"/>
    <dgm:cxn modelId="{90677591-FF39-4703-9E87-F4882C9648AA}" type="presOf" srcId="{9A183E02-88B8-4D7A-A678-4AF20FACD526}" destId="{C8F8F24E-12A6-4DB7-BE03-B81EA7263608}" srcOrd="0" destOrd="0" presId="urn:microsoft.com/office/officeart/2005/8/layout/vList2"/>
    <dgm:cxn modelId="{60910CA1-E63D-46EF-8E82-FBF3045F5922}" type="presOf" srcId="{066404A5-C238-40E2-97CB-E1ABEECFD686}" destId="{FD7DD62E-EC99-4C67-BE00-62D4E610CED0}" srcOrd="0" destOrd="0" presId="urn:microsoft.com/office/officeart/2005/8/layout/vList2"/>
    <dgm:cxn modelId="{B5548AAB-8ED3-4B8E-830B-4B3F2DBD30A8}" srcId="{9A183E02-88B8-4D7A-A678-4AF20FACD526}" destId="{9CF1E0B1-4175-4591-BA8F-DF6EF62E8782}" srcOrd="1" destOrd="0" parTransId="{E7DA8AF1-44A7-4F46-B1F5-C2A2EC606DB4}" sibTransId="{100AC672-FBD2-4018-B26A-68C186EC2A74}"/>
    <dgm:cxn modelId="{BD3DA0B6-06EF-40C9-8DCE-D184C05874C3}" type="presOf" srcId="{15455BD3-731C-48B1-96CE-6B64D190DD03}" destId="{B0D44FBF-6FB9-42F7-ADFE-687013D14658}" srcOrd="0" destOrd="0" presId="urn:microsoft.com/office/officeart/2005/8/layout/vList2"/>
    <dgm:cxn modelId="{B670C5B6-1148-4A7D-ADE6-59152034CAAD}" type="presOf" srcId="{3D4A8BB5-E466-435F-A714-1D1113011793}" destId="{5720B934-7E69-4E1D-87BA-33F87DD2C5E6}" srcOrd="0" destOrd="0" presId="urn:microsoft.com/office/officeart/2005/8/layout/vList2"/>
    <dgm:cxn modelId="{77DDE2D6-AD21-4764-8140-212DE9BDB32E}" type="presOf" srcId="{20D6A797-636A-438C-8A47-8E8D9DB5B23B}" destId="{C94A0509-4C47-423A-8A7C-FF04A3DE8F81}" srcOrd="0" destOrd="1" presId="urn:microsoft.com/office/officeart/2005/8/layout/vList2"/>
    <dgm:cxn modelId="{F3EF2CF9-7577-470C-A0D5-57172CC49501}" type="presOf" srcId="{56E5DC2C-24B5-4655-9FB9-64DBC294EA04}" destId="{5720B934-7E69-4E1D-87BA-33F87DD2C5E6}" srcOrd="0" destOrd="1" presId="urn:microsoft.com/office/officeart/2005/8/layout/vList2"/>
    <dgm:cxn modelId="{064AA9BD-2D15-4A73-935F-88C120C05B67}" type="presParOf" srcId="{C8F8F24E-12A6-4DB7-BE03-B81EA7263608}" destId="{B0070090-0F8A-47FB-85CD-D2F058A966F0}" srcOrd="0" destOrd="0" presId="urn:microsoft.com/office/officeart/2005/8/layout/vList2"/>
    <dgm:cxn modelId="{EDF907AC-CCA9-44EB-96C4-0BDBBD0D35E5}" type="presParOf" srcId="{C8F8F24E-12A6-4DB7-BE03-B81EA7263608}" destId="{B0D44FBF-6FB9-42F7-ADFE-687013D14658}" srcOrd="1" destOrd="0" presId="urn:microsoft.com/office/officeart/2005/8/layout/vList2"/>
    <dgm:cxn modelId="{287820F3-AE76-4411-87B4-D74BC68B9796}" type="presParOf" srcId="{C8F8F24E-12A6-4DB7-BE03-B81EA7263608}" destId="{4A489ACB-FB8B-4295-B0BE-551CB1413B18}" srcOrd="2" destOrd="0" presId="urn:microsoft.com/office/officeart/2005/8/layout/vList2"/>
    <dgm:cxn modelId="{F2B02240-3D69-4009-AF22-7CE9DEDDDB67}" type="presParOf" srcId="{C8F8F24E-12A6-4DB7-BE03-B81EA7263608}" destId="{C94A0509-4C47-423A-8A7C-FF04A3DE8F81}" srcOrd="3" destOrd="0" presId="urn:microsoft.com/office/officeart/2005/8/layout/vList2"/>
    <dgm:cxn modelId="{CB6C130E-E001-4D0D-9F72-7607B3888523}" type="presParOf" srcId="{C8F8F24E-12A6-4DB7-BE03-B81EA7263608}" destId="{FD7DD62E-EC99-4C67-BE00-62D4E610CED0}" srcOrd="4" destOrd="0" presId="urn:microsoft.com/office/officeart/2005/8/layout/vList2"/>
    <dgm:cxn modelId="{423FCFE1-88B5-4AA1-BE11-934268B9B7F8}" type="presParOf" srcId="{C8F8F24E-12A6-4DB7-BE03-B81EA7263608}" destId="{5720B934-7E69-4E1D-87BA-33F87DD2C5E6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55E0C4-30BA-49B9-8812-19D7211819C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A1CA30E-B4DD-4979-A775-82FFE7F484F1}">
      <dgm:prSet/>
      <dgm:spPr/>
      <dgm:t>
        <a:bodyPr/>
        <a:lstStyle/>
        <a:p>
          <a:pPr>
            <a:defRPr cap="all"/>
          </a:pPr>
          <a:r>
            <a:rPr lang="en-US"/>
            <a:t>Professor Lori Perine</a:t>
          </a:r>
        </a:p>
      </dgm:t>
    </dgm:pt>
    <dgm:pt modelId="{150DFCD4-468A-4FB4-8076-CC05FD3C20C8}" type="parTrans" cxnId="{E023FA74-61E3-422A-9AEE-E1A87CBC37DA}">
      <dgm:prSet/>
      <dgm:spPr/>
      <dgm:t>
        <a:bodyPr/>
        <a:lstStyle/>
        <a:p>
          <a:endParaRPr lang="en-US"/>
        </a:p>
      </dgm:t>
    </dgm:pt>
    <dgm:pt modelId="{85F6F2B2-7686-4620-93F3-C2A3B725EBC7}" type="sibTrans" cxnId="{E023FA74-61E3-422A-9AEE-E1A87CBC37DA}">
      <dgm:prSet/>
      <dgm:spPr/>
      <dgm:t>
        <a:bodyPr/>
        <a:lstStyle/>
        <a:p>
          <a:endParaRPr lang="en-US"/>
        </a:p>
      </dgm:t>
    </dgm:pt>
    <dgm:pt modelId="{E5B88AE9-AACD-4D08-A5A8-2B0FE74F9F8C}">
      <dgm:prSet/>
      <dgm:spPr/>
      <dgm:t>
        <a:bodyPr/>
        <a:lstStyle/>
        <a:p>
          <a:pPr>
            <a:defRPr cap="all"/>
          </a:pPr>
          <a:r>
            <a:rPr lang="en-US"/>
            <a:t>Data Science Department – Professor Saidi &amp; Alraee </a:t>
          </a:r>
        </a:p>
      </dgm:t>
    </dgm:pt>
    <dgm:pt modelId="{A9DCB725-5F63-4595-A6A7-00D09E0F00C7}" type="parTrans" cxnId="{803A11E1-336E-4EDF-B14D-4831E137A143}">
      <dgm:prSet/>
      <dgm:spPr/>
      <dgm:t>
        <a:bodyPr/>
        <a:lstStyle/>
        <a:p>
          <a:endParaRPr lang="en-US"/>
        </a:p>
      </dgm:t>
    </dgm:pt>
    <dgm:pt modelId="{7D73323F-5792-4887-B5ED-65AC19F4C8C0}" type="sibTrans" cxnId="{803A11E1-336E-4EDF-B14D-4831E137A143}">
      <dgm:prSet/>
      <dgm:spPr/>
      <dgm:t>
        <a:bodyPr/>
        <a:lstStyle/>
        <a:p>
          <a:endParaRPr lang="en-US"/>
        </a:p>
      </dgm:t>
    </dgm:pt>
    <dgm:pt modelId="{FF7A5C09-AECD-469F-9979-0049F8CDE3D9}">
      <dgm:prSet/>
      <dgm:spPr/>
      <dgm:t>
        <a:bodyPr/>
        <a:lstStyle/>
        <a:p>
          <a:pPr>
            <a:defRPr cap="all"/>
          </a:pPr>
          <a:r>
            <a:rPr lang="en-US"/>
            <a:t>Robby Manihani – Stanford Research Labs </a:t>
          </a:r>
        </a:p>
      </dgm:t>
    </dgm:pt>
    <dgm:pt modelId="{46DF03A2-2692-4354-9A58-9D1050BAD67D}" type="parTrans" cxnId="{34C2AA6E-210F-4376-9E8A-1A0954808EBA}">
      <dgm:prSet/>
      <dgm:spPr/>
      <dgm:t>
        <a:bodyPr/>
        <a:lstStyle/>
        <a:p>
          <a:endParaRPr lang="en-US"/>
        </a:p>
      </dgm:t>
    </dgm:pt>
    <dgm:pt modelId="{E8E28076-DF6E-4D0E-B96D-A558D8A85A6B}" type="sibTrans" cxnId="{34C2AA6E-210F-4376-9E8A-1A0954808EBA}">
      <dgm:prSet/>
      <dgm:spPr/>
      <dgm:t>
        <a:bodyPr/>
        <a:lstStyle/>
        <a:p>
          <a:endParaRPr lang="en-US"/>
        </a:p>
      </dgm:t>
    </dgm:pt>
    <dgm:pt modelId="{EE6AEC64-5662-4153-87A6-775706EECC07}" type="pres">
      <dgm:prSet presAssocID="{4355E0C4-30BA-49B9-8812-19D7211819C2}" presName="root" presStyleCnt="0">
        <dgm:presLayoutVars>
          <dgm:dir/>
          <dgm:resizeHandles val="exact"/>
        </dgm:presLayoutVars>
      </dgm:prSet>
      <dgm:spPr/>
    </dgm:pt>
    <dgm:pt modelId="{9E39B981-3E93-446F-8A94-1B3F8E661522}" type="pres">
      <dgm:prSet presAssocID="{DA1CA30E-B4DD-4979-A775-82FFE7F484F1}" presName="compNode" presStyleCnt="0"/>
      <dgm:spPr/>
    </dgm:pt>
    <dgm:pt modelId="{6D64BF19-C4AA-49A1-A72B-2F4181476F7D}" type="pres">
      <dgm:prSet presAssocID="{DA1CA30E-B4DD-4979-A775-82FFE7F484F1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15C6162-AA8B-4B19-9B36-7DE5CEE88F08}" type="pres">
      <dgm:prSet presAssocID="{DA1CA30E-B4DD-4979-A775-82FFE7F484F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4809370-0FEF-4691-A370-B1E58D8C8A2C}" type="pres">
      <dgm:prSet presAssocID="{DA1CA30E-B4DD-4979-A775-82FFE7F484F1}" presName="spaceRect" presStyleCnt="0"/>
      <dgm:spPr/>
    </dgm:pt>
    <dgm:pt modelId="{0E76425A-EE9C-40D4-9F10-BCB10804894C}" type="pres">
      <dgm:prSet presAssocID="{DA1CA30E-B4DD-4979-A775-82FFE7F484F1}" presName="textRect" presStyleLbl="revTx" presStyleIdx="0" presStyleCnt="3">
        <dgm:presLayoutVars>
          <dgm:chMax val="1"/>
          <dgm:chPref val="1"/>
        </dgm:presLayoutVars>
      </dgm:prSet>
      <dgm:spPr/>
    </dgm:pt>
    <dgm:pt modelId="{EC2DB1DF-2A9E-46BE-AC27-2125CAC51A2B}" type="pres">
      <dgm:prSet presAssocID="{85F6F2B2-7686-4620-93F3-C2A3B725EBC7}" presName="sibTrans" presStyleCnt="0"/>
      <dgm:spPr/>
    </dgm:pt>
    <dgm:pt modelId="{951D1897-EC88-4054-AD08-F0F2EE44769B}" type="pres">
      <dgm:prSet presAssocID="{E5B88AE9-AACD-4D08-A5A8-2B0FE74F9F8C}" presName="compNode" presStyleCnt="0"/>
      <dgm:spPr/>
    </dgm:pt>
    <dgm:pt modelId="{4BA97D84-2745-48BE-8E65-8C6A6BAA3483}" type="pres">
      <dgm:prSet presAssocID="{E5B88AE9-AACD-4D08-A5A8-2B0FE74F9F8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6C70218-46E2-4EE6-959F-0D7A1915C224}" type="pres">
      <dgm:prSet presAssocID="{E5B88AE9-AACD-4D08-A5A8-2B0FE74F9F8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4C96C66-5022-4542-9FDD-9F11B268D8A7}" type="pres">
      <dgm:prSet presAssocID="{E5B88AE9-AACD-4D08-A5A8-2B0FE74F9F8C}" presName="spaceRect" presStyleCnt="0"/>
      <dgm:spPr/>
    </dgm:pt>
    <dgm:pt modelId="{042FDB73-BB7C-46EF-AFB8-14EF17F609C4}" type="pres">
      <dgm:prSet presAssocID="{E5B88AE9-AACD-4D08-A5A8-2B0FE74F9F8C}" presName="textRect" presStyleLbl="revTx" presStyleIdx="1" presStyleCnt="3">
        <dgm:presLayoutVars>
          <dgm:chMax val="1"/>
          <dgm:chPref val="1"/>
        </dgm:presLayoutVars>
      </dgm:prSet>
      <dgm:spPr/>
    </dgm:pt>
    <dgm:pt modelId="{02C2E751-525E-4A3B-89C8-E0E07C24C375}" type="pres">
      <dgm:prSet presAssocID="{7D73323F-5792-4887-B5ED-65AC19F4C8C0}" presName="sibTrans" presStyleCnt="0"/>
      <dgm:spPr/>
    </dgm:pt>
    <dgm:pt modelId="{B28D8A7A-119E-4EFF-BF83-A8F44150AE94}" type="pres">
      <dgm:prSet presAssocID="{FF7A5C09-AECD-469F-9979-0049F8CDE3D9}" presName="compNode" presStyleCnt="0"/>
      <dgm:spPr/>
    </dgm:pt>
    <dgm:pt modelId="{217305DE-2D29-4553-A99E-929C13C546ED}" type="pres">
      <dgm:prSet presAssocID="{FF7A5C09-AECD-469F-9979-0049F8CDE3D9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EDD9BE8-FA93-4E9C-BE76-8B976F4CD006}" type="pres">
      <dgm:prSet presAssocID="{FF7A5C09-AECD-469F-9979-0049F8CDE3D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80F18DE4-5375-451D-AFBD-CAABE45BCE1B}" type="pres">
      <dgm:prSet presAssocID="{FF7A5C09-AECD-469F-9979-0049F8CDE3D9}" presName="spaceRect" presStyleCnt="0"/>
      <dgm:spPr/>
    </dgm:pt>
    <dgm:pt modelId="{BEAE5D27-E5A1-4D16-9B24-9F7B42AE64E6}" type="pres">
      <dgm:prSet presAssocID="{FF7A5C09-AECD-469F-9979-0049F8CDE3D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7F1D612-FFC1-47A0-A862-DA3486A1E1CF}" type="presOf" srcId="{E5B88AE9-AACD-4D08-A5A8-2B0FE74F9F8C}" destId="{042FDB73-BB7C-46EF-AFB8-14EF17F609C4}" srcOrd="0" destOrd="0" presId="urn:microsoft.com/office/officeart/2018/5/layout/IconLeafLabelList"/>
    <dgm:cxn modelId="{690E0F1F-8888-4BB8-A137-F5F710F0C219}" type="presOf" srcId="{DA1CA30E-B4DD-4979-A775-82FFE7F484F1}" destId="{0E76425A-EE9C-40D4-9F10-BCB10804894C}" srcOrd="0" destOrd="0" presId="urn:microsoft.com/office/officeart/2018/5/layout/IconLeafLabelList"/>
    <dgm:cxn modelId="{AA70433B-EF4F-401F-8CCD-0DBCB36FD320}" type="presOf" srcId="{FF7A5C09-AECD-469F-9979-0049F8CDE3D9}" destId="{BEAE5D27-E5A1-4D16-9B24-9F7B42AE64E6}" srcOrd="0" destOrd="0" presId="urn:microsoft.com/office/officeart/2018/5/layout/IconLeafLabelList"/>
    <dgm:cxn modelId="{E9E5614A-E0B0-43FB-8807-E2B0AC427250}" type="presOf" srcId="{4355E0C4-30BA-49B9-8812-19D7211819C2}" destId="{EE6AEC64-5662-4153-87A6-775706EECC07}" srcOrd="0" destOrd="0" presId="urn:microsoft.com/office/officeart/2018/5/layout/IconLeafLabelList"/>
    <dgm:cxn modelId="{34C2AA6E-210F-4376-9E8A-1A0954808EBA}" srcId="{4355E0C4-30BA-49B9-8812-19D7211819C2}" destId="{FF7A5C09-AECD-469F-9979-0049F8CDE3D9}" srcOrd="2" destOrd="0" parTransId="{46DF03A2-2692-4354-9A58-9D1050BAD67D}" sibTransId="{E8E28076-DF6E-4D0E-B96D-A558D8A85A6B}"/>
    <dgm:cxn modelId="{E023FA74-61E3-422A-9AEE-E1A87CBC37DA}" srcId="{4355E0C4-30BA-49B9-8812-19D7211819C2}" destId="{DA1CA30E-B4DD-4979-A775-82FFE7F484F1}" srcOrd="0" destOrd="0" parTransId="{150DFCD4-468A-4FB4-8076-CC05FD3C20C8}" sibTransId="{85F6F2B2-7686-4620-93F3-C2A3B725EBC7}"/>
    <dgm:cxn modelId="{803A11E1-336E-4EDF-B14D-4831E137A143}" srcId="{4355E0C4-30BA-49B9-8812-19D7211819C2}" destId="{E5B88AE9-AACD-4D08-A5A8-2B0FE74F9F8C}" srcOrd="1" destOrd="0" parTransId="{A9DCB725-5F63-4595-A6A7-00D09E0F00C7}" sibTransId="{7D73323F-5792-4887-B5ED-65AC19F4C8C0}"/>
    <dgm:cxn modelId="{E5D60C1A-6D16-45C5-B803-C0F15EAA8D02}" type="presParOf" srcId="{EE6AEC64-5662-4153-87A6-775706EECC07}" destId="{9E39B981-3E93-446F-8A94-1B3F8E661522}" srcOrd="0" destOrd="0" presId="urn:microsoft.com/office/officeart/2018/5/layout/IconLeafLabelList"/>
    <dgm:cxn modelId="{FDA324C2-2498-4E33-B6EF-3F2E1910A539}" type="presParOf" srcId="{9E39B981-3E93-446F-8A94-1B3F8E661522}" destId="{6D64BF19-C4AA-49A1-A72B-2F4181476F7D}" srcOrd="0" destOrd="0" presId="urn:microsoft.com/office/officeart/2018/5/layout/IconLeafLabelList"/>
    <dgm:cxn modelId="{7A4E450E-BD4A-4FC0-8795-A9FC4366EE2C}" type="presParOf" srcId="{9E39B981-3E93-446F-8A94-1B3F8E661522}" destId="{B15C6162-AA8B-4B19-9B36-7DE5CEE88F08}" srcOrd="1" destOrd="0" presId="urn:microsoft.com/office/officeart/2018/5/layout/IconLeafLabelList"/>
    <dgm:cxn modelId="{7BA49E2D-5964-4202-9249-A4754E270792}" type="presParOf" srcId="{9E39B981-3E93-446F-8A94-1B3F8E661522}" destId="{84809370-0FEF-4691-A370-B1E58D8C8A2C}" srcOrd="2" destOrd="0" presId="urn:microsoft.com/office/officeart/2018/5/layout/IconLeafLabelList"/>
    <dgm:cxn modelId="{EC2EDF4C-0F23-403F-A469-D0DBB9D8C130}" type="presParOf" srcId="{9E39B981-3E93-446F-8A94-1B3F8E661522}" destId="{0E76425A-EE9C-40D4-9F10-BCB10804894C}" srcOrd="3" destOrd="0" presId="urn:microsoft.com/office/officeart/2018/5/layout/IconLeafLabelList"/>
    <dgm:cxn modelId="{E2CFCC23-ABF2-4FEF-8C23-802026112523}" type="presParOf" srcId="{EE6AEC64-5662-4153-87A6-775706EECC07}" destId="{EC2DB1DF-2A9E-46BE-AC27-2125CAC51A2B}" srcOrd="1" destOrd="0" presId="urn:microsoft.com/office/officeart/2018/5/layout/IconLeafLabelList"/>
    <dgm:cxn modelId="{9ADAA23E-352A-495A-A5AE-6AD5FCC0BE09}" type="presParOf" srcId="{EE6AEC64-5662-4153-87A6-775706EECC07}" destId="{951D1897-EC88-4054-AD08-F0F2EE44769B}" srcOrd="2" destOrd="0" presId="urn:microsoft.com/office/officeart/2018/5/layout/IconLeafLabelList"/>
    <dgm:cxn modelId="{0DF52EB9-401A-48E4-971E-859739CD6934}" type="presParOf" srcId="{951D1897-EC88-4054-AD08-F0F2EE44769B}" destId="{4BA97D84-2745-48BE-8E65-8C6A6BAA3483}" srcOrd="0" destOrd="0" presId="urn:microsoft.com/office/officeart/2018/5/layout/IconLeafLabelList"/>
    <dgm:cxn modelId="{66562F41-716E-4A4D-881F-448E6C363CD0}" type="presParOf" srcId="{951D1897-EC88-4054-AD08-F0F2EE44769B}" destId="{A6C70218-46E2-4EE6-959F-0D7A1915C224}" srcOrd="1" destOrd="0" presId="urn:microsoft.com/office/officeart/2018/5/layout/IconLeafLabelList"/>
    <dgm:cxn modelId="{85ED90E1-7011-4999-9379-CA788A18BEB1}" type="presParOf" srcId="{951D1897-EC88-4054-AD08-F0F2EE44769B}" destId="{44C96C66-5022-4542-9FDD-9F11B268D8A7}" srcOrd="2" destOrd="0" presId="urn:microsoft.com/office/officeart/2018/5/layout/IconLeafLabelList"/>
    <dgm:cxn modelId="{6F7F30F9-C710-449B-9E12-90FE6E08E0E9}" type="presParOf" srcId="{951D1897-EC88-4054-AD08-F0F2EE44769B}" destId="{042FDB73-BB7C-46EF-AFB8-14EF17F609C4}" srcOrd="3" destOrd="0" presId="urn:microsoft.com/office/officeart/2018/5/layout/IconLeafLabelList"/>
    <dgm:cxn modelId="{640F0617-8B6F-4758-AF65-2207B7B5B59D}" type="presParOf" srcId="{EE6AEC64-5662-4153-87A6-775706EECC07}" destId="{02C2E751-525E-4A3B-89C8-E0E07C24C375}" srcOrd="3" destOrd="0" presId="urn:microsoft.com/office/officeart/2018/5/layout/IconLeafLabelList"/>
    <dgm:cxn modelId="{ABAB0E8B-858C-46F2-9CF7-3C3DD188A5BB}" type="presParOf" srcId="{EE6AEC64-5662-4153-87A6-775706EECC07}" destId="{B28D8A7A-119E-4EFF-BF83-A8F44150AE94}" srcOrd="4" destOrd="0" presId="urn:microsoft.com/office/officeart/2018/5/layout/IconLeafLabelList"/>
    <dgm:cxn modelId="{C4D22BB3-2B18-4D3B-9B26-F690E72300A5}" type="presParOf" srcId="{B28D8A7A-119E-4EFF-BF83-A8F44150AE94}" destId="{217305DE-2D29-4553-A99E-929C13C546ED}" srcOrd="0" destOrd="0" presId="urn:microsoft.com/office/officeart/2018/5/layout/IconLeafLabelList"/>
    <dgm:cxn modelId="{61AC83A7-90A5-4CC6-86EF-486B230C42F2}" type="presParOf" srcId="{B28D8A7A-119E-4EFF-BF83-A8F44150AE94}" destId="{FEDD9BE8-FA93-4E9C-BE76-8B976F4CD006}" srcOrd="1" destOrd="0" presId="urn:microsoft.com/office/officeart/2018/5/layout/IconLeafLabelList"/>
    <dgm:cxn modelId="{7DEADBBE-76CF-4576-9207-B1CEE0D4FB63}" type="presParOf" srcId="{B28D8A7A-119E-4EFF-BF83-A8F44150AE94}" destId="{80F18DE4-5375-451D-AFBD-CAABE45BCE1B}" srcOrd="2" destOrd="0" presId="urn:microsoft.com/office/officeart/2018/5/layout/IconLeafLabelList"/>
    <dgm:cxn modelId="{B8D9DBD7-9843-4CBF-9B31-40A5910B43A1}" type="presParOf" srcId="{B28D8A7A-119E-4EFF-BF83-A8F44150AE94}" destId="{BEAE5D27-E5A1-4D16-9B24-9F7B42AE64E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070090-0F8A-47FB-85CD-D2F058A966F0}">
      <dsp:nvSpPr>
        <dsp:cNvPr id="0" name=""/>
        <dsp:cNvSpPr/>
      </dsp:nvSpPr>
      <dsp:spPr>
        <a:xfrm>
          <a:off x="0" y="97162"/>
          <a:ext cx="4310303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Long-Term Growth</a:t>
          </a:r>
        </a:p>
      </dsp:txBody>
      <dsp:txXfrm>
        <a:off x="25188" y="122350"/>
        <a:ext cx="4259927" cy="465594"/>
      </dsp:txXfrm>
    </dsp:sp>
    <dsp:sp modelId="{B0D44FBF-6FB9-42F7-ADFE-687013D14658}">
      <dsp:nvSpPr>
        <dsp:cNvPr id="0" name=""/>
        <dsp:cNvSpPr/>
      </dsp:nvSpPr>
      <dsp:spPr>
        <a:xfrm>
          <a:off x="0" y="613132"/>
          <a:ext cx="4310303" cy="78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5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Measures total housing appreciation over time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Higher growth may indicate stronger returns </a:t>
          </a:r>
        </a:p>
      </dsp:txBody>
      <dsp:txXfrm>
        <a:off x="0" y="613132"/>
        <a:ext cx="4310303" cy="782460"/>
      </dsp:txXfrm>
    </dsp:sp>
    <dsp:sp modelId="{4A489ACB-FB8B-4295-B0BE-551CB1413B18}">
      <dsp:nvSpPr>
        <dsp:cNvPr id="0" name=""/>
        <dsp:cNvSpPr/>
      </dsp:nvSpPr>
      <dsp:spPr>
        <a:xfrm>
          <a:off x="0" y="1395592"/>
          <a:ext cx="4310303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Volatility</a:t>
          </a:r>
        </a:p>
      </dsp:txBody>
      <dsp:txXfrm>
        <a:off x="25188" y="1420780"/>
        <a:ext cx="4259927" cy="465594"/>
      </dsp:txXfrm>
    </dsp:sp>
    <dsp:sp modelId="{C94A0509-4C47-423A-8A7C-FF04A3DE8F81}">
      <dsp:nvSpPr>
        <dsp:cNvPr id="0" name=""/>
        <dsp:cNvSpPr/>
      </dsp:nvSpPr>
      <dsp:spPr>
        <a:xfrm>
          <a:off x="0" y="1911562"/>
          <a:ext cx="4310303" cy="999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5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Measures fluctuations in monthly housing price changes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Lower volatility may indicate more stable markets </a:t>
          </a:r>
        </a:p>
      </dsp:txBody>
      <dsp:txXfrm>
        <a:off x="0" y="1911562"/>
        <a:ext cx="4310303" cy="999809"/>
      </dsp:txXfrm>
    </dsp:sp>
    <dsp:sp modelId="{FD7DD62E-EC99-4C67-BE00-62D4E610CED0}">
      <dsp:nvSpPr>
        <dsp:cNvPr id="0" name=""/>
        <dsp:cNvSpPr/>
      </dsp:nvSpPr>
      <dsp:spPr>
        <a:xfrm>
          <a:off x="0" y="2911372"/>
          <a:ext cx="4310303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Affordability Ratio</a:t>
          </a:r>
        </a:p>
      </dsp:txBody>
      <dsp:txXfrm>
        <a:off x="25188" y="2936560"/>
        <a:ext cx="4259927" cy="465594"/>
      </dsp:txXfrm>
    </dsp:sp>
    <dsp:sp modelId="{5720B934-7E69-4E1D-87BA-33F87DD2C5E6}">
      <dsp:nvSpPr>
        <dsp:cNvPr id="0" name=""/>
        <dsp:cNvSpPr/>
      </dsp:nvSpPr>
      <dsp:spPr>
        <a:xfrm>
          <a:off x="0" y="3427342"/>
          <a:ext cx="4310303" cy="999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52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Compared housing prices relative to local median income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Lower ratios indicate stronger affordability support</a:t>
          </a:r>
        </a:p>
      </dsp:txBody>
      <dsp:txXfrm>
        <a:off x="0" y="3427342"/>
        <a:ext cx="4310303" cy="9998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64BF19-C4AA-49A1-A72B-2F4181476F7D}">
      <dsp:nvSpPr>
        <dsp:cNvPr id="0" name=""/>
        <dsp:cNvSpPr/>
      </dsp:nvSpPr>
      <dsp:spPr>
        <a:xfrm>
          <a:off x="610470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5C6162-AA8B-4B19-9B36-7DE5CEE88F08}">
      <dsp:nvSpPr>
        <dsp:cNvPr id="0" name=""/>
        <dsp:cNvSpPr/>
      </dsp:nvSpPr>
      <dsp:spPr>
        <a:xfrm>
          <a:off x="1012657" y="409638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76425A-EE9C-40D4-9F10-BCB10804894C}">
      <dsp:nvSpPr>
        <dsp:cNvPr id="0" name=""/>
        <dsp:cNvSpPr/>
      </dsp:nvSpPr>
      <dsp:spPr>
        <a:xfrm>
          <a:off x="7188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Professor Lori Perine</a:t>
          </a:r>
        </a:p>
      </dsp:txBody>
      <dsp:txXfrm>
        <a:off x="7188" y="2482451"/>
        <a:ext cx="3093750" cy="720000"/>
      </dsp:txXfrm>
    </dsp:sp>
    <dsp:sp modelId="{4BA97D84-2745-48BE-8E65-8C6A6BAA3483}">
      <dsp:nvSpPr>
        <dsp:cNvPr id="0" name=""/>
        <dsp:cNvSpPr/>
      </dsp:nvSpPr>
      <dsp:spPr>
        <a:xfrm>
          <a:off x="4245626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C70218-46E2-4EE6-959F-0D7A1915C224}">
      <dsp:nvSpPr>
        <dsp:cNvPr id="0" name=""/>
        <dsp:cNvSpPr/>
      </dsp:nvSpPr>
      <dsp:spPr>
        <a:xfrm>
          <a:off x="4647813" y="409638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FDB73-BB7C-46EF-AFB8-14EF17F609C4}">
      <dsp:nvSpPr>
        <dsp:cNvPr id="0" name=""/>
        <dsp:cNvSpPr/>
      </dsp:nvSpPr>
      <dsp:spPr>
        <a:xfrm>
          <a:off x="3642345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Data Science Department – Professor Saidi &amp; Alraee </a:t>
          </a:r>
        </a:p>
      </dsp:txBody>
      <dsp:txXfrm>
        <a:off x="3642345" y="2482451"/>
        <a:ext cx="3093750" cy="720000"/>
      </dsp:txXfrm>
    </dsp:sp>
    <dsp:sp modelId="{217305DE-2D29-4553-A99E-929C13C546ED}">
      <dsp:nvSpPr>
        <dsp:cNvPr id="0" name=""/>
        <dsp:cNvSpPr/>
      </dsp:nvSpPr>
      <dsp:spPr>
        <a:xfrm>
          <a:off x="7880782" y="7450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DD9BE8-FA93-4E9C-BE76-8B976F4CD006}">
      <dsp:nvSpPr>
        <dsp:cNvPr id="0" name=""/>
        <dsp:cNvSpPr/>
      </dsp:nvSpPr>
      <dsp:spPr>
        <a:xfrm>
          <a:off x="8282970" y="409638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AE5D27-E5A1-4D16-9B24-9F7B42AE64E6}">
      <dsp:nvSpPr>
        <dsp:cNvPr id="0" name=""/>
        <dsp:cNvSpPr/>
      </dsp:nvSpPr>
      <dsp:spPr>
        <a:xfrm>
          <a:off x="7277501" y="248245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Robby Manihani – Stanford Research Labs </a:t>
          </a:r>
        </a:p>
      </dsp:txBody>
      <dsp:txXfrm>
        <a:off x="7277501" y="2482451"/>
        <a:ext cx="3093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nsus.gov/data.html" TargetMode="External"/><Relationship Id="rId2" Type="http://schemas.openxmlformats.org/officeDocument/2006/relationships/hyperlink" Target="https://www.zillow.com/research/data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nsus.gov/programs-surveys/acs" TargetMode="External"/><Relationship Id="rId2" Type="http://schemas.openxmlformats.org/officeDocument/2006/relationships/hyperlink" Target="https://www.zillow.com/research/dat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alker-data.com/tidycensu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5400" b="1">
                <a:ea typeface="+mj-lt"/>
                <a:cs typeface="+mj-lt"/>
              </a:rPr>
              <a:t>Analyzing Long-Term Residential Investment Potential in Montgomery County, Maryland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By: Charanpreet Singh</a:t>
            </a:r>
            <a:br>
              <a:rPr lang="en-US" dirty="0"/>
            </a:br>
            <a:endParaRPr lang="en-US" dirty="0"/>
          </a:p>
          <a:p>
            <a:pPr algn="l"/>
            <a:r>
              <a:rPr lang="en-US"/>
              <a:t>Capstone DATA 205</a:t>
            </a:r>
            <a:br>
              <a:rPr lang="en-US" dirty="0"/>
            </a:br>
            <a:r>
              <a:rPr lang="en-US"/>
              <a:t>Professor Perine</a:t>
            </a:r>
          </a:p>
        </p:txBody>
      </p:sp>
      <p:pic>
        <p:nvPicPr>
          <p:cNvPr id="5" name="Picture 4" descr="Houses in a village">
            <a:extLst>
              <a:ext uri="{FF2B5EF4-FFF2-40B4-BE49-F238E27FC236}">
                <a16:creationId xmlns:a16="http://schemas.microsoft.com/office/drawing/2014/main" id="{A48991EF-D23D-596D-1A89-83145A7782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84" r="31219" b="6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107518-724E-B4EB-BE17-C809C1DEC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Introduction/Overview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E634B-99A6-A87D-56F4-A9AB7C671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064" y="2745379"/>
            <a:ext cx="10349533" cy="3519265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Which Montgomery County cities show the strongest indicators for long-term residential real estate investment?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BF317E4-FFFE-58AB-6F3A-C92BC452B7BB}"/>
              </a:ext>
            </a:extLst>
          </p:cNvPr>
          <p:cNvSpPr txBox="1"/>
          <p:nvPr/>
        </p:nvSpPr>
        <p:spPr>
          <a:xfrm>
            <a:off x="836839" y="4259036"/>
            <a:ext cx="5442857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Project Overview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Analyze long-term housing price trends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Compare appreciation and volatility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Integrate Census demographic data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Build investment-focused metrics</a:t>
            </a:r>
            <a:endParaRPr lang="en-US"/>
          </a:p>
          <a:p>
            <a:pPr algn="l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730F5B-6890-0352-0FE6-95D69488B87A}"/>
              </a:ext>
            </a:extLst>
          </p:cNvPr>
          <p:cNvSpPr txBox="1"/>
          <p:nvPr/>
        </p:nvSpPr>
        <p:spPr>
          <a:xfrm>
            <a:off x="6584786" y="4258125"/>
            <a:ext cx="4259036" cy="147732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Why It Matters</a:t>
            </a:r>
          </a:p>
          <a:p>
            <a:pPr>
              <a:buFont typeface=""/>
              <a:buChar char="•"/>
            </a:pPr>
            <a:r>
              <a:rPr lang="en-US"/>
              <a:t>Housing affordability </a:t>
            </a:r>
          </a:p>
          <a:p>
            <a:pPr>
              <a:buFont typeface=""/>
              <a:buChar char="•"/>
            </a:pPr>
            <a:r>
              <a:rPr lang="en-US"/>
              <a:t>Investment decision-making </a:t>
            </a:r>
          </a:p>
          <a:p>
            <a:pPr>
              <a:buFont typeface=""/>
              <a:buChar char="•"/>
            </a:pPr>
            <a:r>
              <a:rPr lang="en-US"/>
              <a:t>Population and income trends 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64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82D6BE6-4B0D-44B3-B669-FB2EE3D1D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76CA8-E33C-0C3E-202E-7B97B0C56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chemeClr val="tx2"/>
                </a:solidFill>
              </a:rPr>
              <a:t>Zillow </a:t>
            </a:r>
            <a:r>
              <a:rPr lang="en-US" sz="2500">
                <a:solidFill>
                  <a:schemeClr val="tx2"/>
                </a:solidFill>
              </a:rPr>
              <a:t>ZHVI Data:</a:t>
            </a:r>
            <a:br>
              <a:rPr lang="en-US" sz="2500" dirty="0">
                <a:solidFill>
                  <a:schemeClr val="tx2"/>
                </a:solidFill>
              </a:rPr>
            </a:br>
            <a:r>
              <a:rPr lang="en-US" sz="2500" dirty="0">
                <a:solidFill>
                  <a:schemeClr val="tx2"/>
                </a:solidFill>
              </a:rPr>
              <a:t> </a:t>
            </a:r>
            <a:r>
              <a:rPr lang="en-US" sz="2500" dirty="0">
                <a:solidFill>
                  <a:schemeClr val="tx2"/>
                </a:solidFill>
                <a:latin typeface="Times New Roman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https://www.zillow.com/research/data/</a:t>
            </a:r>
            <a:r>
              <a:rPr lang="en-US" sz="2500" dirty="0">
                <a:solidFill>
                  <a:schemeClr val="tx2"/>
                </a:solidFill>
                <a:latin typeface="Times New Roman"/>
                <a:cs typeface="Times New Roman"/>
              </a:rPr>
              <a:t> </a:t>
            </a:r>
            <a:endParaRPr lang="en-US" sz="2500" dirty="0">
              <a:solidFill>
                <a:schemeClr val="tx2"/>
              </a:solidFill>
            </a:endParaRPr>
          </a:p>
          <a:p>
            <a:r>
              <a:rPr lang="en-US" sz="2500">
                <a:solidFill>
                  <a:schemeClr val="tx2"/>
                </a:solidFill>
                <a:ea typeface="+mn-lt"/>
                <a:cs typeface="+mn-lt"/>
              </a:rPr>
              <a:t>Monthly housing values </a:t>
            </a:r>
            <a:endParaRPr lang="en-US" sz="2500">
              <a:solidFill>
                <a:schemeClr val="tx2"/>
              </a:solidFill>
            </a:endParaRPr>
          </a:p>
          <a:p>
            <a:r>
              <a:rPr lang="en-US" sz="2500">
                <a:solidFill>
                  <a:schemeClr val="tx2"/>
                </a:solidFill>
                <a:ea typeface="+mn-lt"/>
                <a:cs typeface="+mn-lt"/>
              </a:rPr>
              <a:t>City level housing trends </a:t>
            </a:r>
            <a:endParaRPr lang="en-US" sz="2500">
              <a:solidFill>
                <a:schemeClr val="tx2"/>
              </a:solidFill>
            </a:endParaRPr>
          </a:p>
          <a:p>
            <a:r>
              <a:rPr lang="en-US" sz="2500">
                <a:solidFill>
                  <a:schemeClr val="tx2"/>
                </a:solidFill>
                <a:ea typeface="+mn-lt"/>
                <a:cs typeface="+mn-lt"/>
              </a:rPr>
              <a:t>Historical housing appreciation </a:t>
            </a:r>
            <a:endParaRPr lang="en-US" sz="25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500">
                <a:solidFill>
                  <a:schemeClr val="tx2"/>
                </a:solidFill>
              </a:rPr>
              <a:t>Census Data calling API: </a:t>
            </a:r>
            <a:r>
              <a:rPr lang="en-US" sz="2500" dirty="0">
                <a:solidFill>
                  <a:schemeClr val="tx2"/>
                </a:solidFill>
                <a:latin typeface="Times New Roman"/>
                <a:cs typeface="Times New Roman"/>
              </a:rPr>
              <a:t> </a:t>
            </a:r>
            <a:br>
              <a:rPr lang="en-US" sz="2500" dirty="0">
                <a:solidFill>
                  <a:schemeClr val="tx2"/>
                </a:solidFill>
                <a:latin typeface="Times New Roman"/>
                <a:cs typeface="Times New Roman"/>
              </a:rPr>
            </a:br>
            <a:r>
              <a:rPr lang="en-US" sz="2500" dirty="0">
                <a:solidFill>
                  <a:schemeClr val="tx2"/>
                </a:solidFill>
                <a:latin typeface="Times New Roman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https://www.census.gov/data.html</a:t>
            </a:r>
            <a:r>
              <a:rPr lang="en-US" sz="2500" dirty="0">
                <a:solidFill>
                  <a:schemeClr val="tx2"/>
                </a:solidFill>
                <a:latin typeface="Times New Roman"/>
                <a:cs typeface="Times New Roman"/>
              </a:rPr>
              <a:t> </a:t>
            </a:r>
          </a:p>
          <a:p>
            <a:r>
              <a:rPr lang="en-US" sz="2500">
                <a:solidFill>
                  <a:schemeClr val="tx2"/>
                </a:solidFill>
                <a:ea typeface="+mn-lt"/>
                <a:cs typeface="+mn-lt"/>
              </a:rPr>
              <a:t>Population </a:t>
            </a:r>
            <a:endParaRPr lang="en-US" sz="2500">
              <a:solidFill>
                <a:schemeClr val="tx2"/>
              </a:solidFill>
            </a:endParaRPr>
          </a:p>
          <a:p>
            <a:r>
              <a:rPr lang="en-US" sz="2500">
                <a:solidFill>
                  <a:schemeClr val="tx2"/>
                </a:solidFill>
                <a:ea typeface="+mn-lt"/>
                <a:cs typeface="+mn-lt"/>
              </a:rPr>
              <a:t>Median household income </a:t>
            </a:r>
            <a:endParaRPr lang="en-US" sz="2500">
              <a:solidFill>
                <a:schemeClr val="tx2"/>
              </a:solidFill>
            </a:endParaRPr>
          </a:p>
          <a:p>
            <a:r>
              <a:rPr lang="en-US" sz="2500">
                <a:solidFill>
                  <a:schemeClr val="tx2"/>
                </a:solidFill>
                <a:ea typeface="+mn-lt"/>
                <a:cs typeface="+mn-lt"/>
              </a:rPr>
              <a:t>Median rent </a:t>
            </a:r>
            <a:endParaRPr lang="en-US" sz="2500">
              <a:solidFill>
                <a:schemeClr val="tx2"/>
              </a:solidFill>
            </a:endParaRPr>
          </a:p>
          <a:p>
            <a:r>
              <a:rPr lang="en-US" sz="2500">
                <a:solidFill>
                  <a:schemeClr val="tx2"/>
                </a:solidFill>
                <a:ea typeface="+mn-lt"/>
                <a:cs typeface="+mn-lt"/>
              </a:rPr>
              <a:t>Median home value</a:t>
            </a:r>
            <a:endParaRPr lang="en-US" sz="25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44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58256" y="-358254"/>
            <a:ext cx="6858000" cy="7574507"/>
          </a:xfrm>
          <a:prstGeom prst="rect">
            <a:avLst/>
          </a:prstGeom>
          <a:ln>
            <a:noFill/>
          </a:ln>
          <a:effectLst>
            <a:outerShdw blurRad="457200" dist="63500" sx="99000" sy="99000" algn="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3685C4-1B31-75FF-D367-F8F41825B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45" y="5546162"/>
            <a:ext cx="6661702" cy="953611"/>
          </a:xfrm>
        </p:spPr>
        <p:txBody>
          <a:bodyPr anchor="ctr">
            <a:normAutofit/>
          </a:bodyPr>
          <a:lstStyle/>
          <a:p>
            <a:r>
              <a:rPr lang="en-US" sz="4000"/>
              <a:t>Tools &amp; Methods</a:t>
            </a:r>
          </a:p>
        </p:txBody>
      </p:sp>
      <p:pic>
        <p:nvPicPr>
          <p:cNvPr id="4" name="Picture 3" descr="File:R logo.svg - Wikimedia Commons">
            <a:extLst>
              <a:ext uri="{FF2B5EF4-FFF2-40B4-BE49-F238E27FC236}">
                <a16:creationId xmlns:a16="http://schemas.microsoft.com/office/drawing/2014/main" id="{756184E8-7DE3-5936-564D-54C68A1221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83" b="2156"/>
          <a:stretch>
            <a:fillRect/>
          </a:stretch>
        </p:blipFill>
        <p:spPr>
          <a:xfrm>
            <a:off x="20" y="-1"/>
            <a:ext cx="7574488" cy="51615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8B2EE-F77E-4BF3-0540-E668E9402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0064" y="743803"/>
            <a:ext cx="3144523" cy="54741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 b="1"/>
              <a:t>Tools</a:t>
            </a:r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R </a:t>
            </a:r>
          </a:p>
          <a:p>
            <a:pPr>
              <a:buFont typeface="Arial"/>
            </a:pPr>
            <a:r>
              <a:rPr lang="en-US" sz="2000" dirty="0" err="1">
                <a:ea typeface="+mn-lt"/>
                <a:cs typeface="+mn-lt"/>
              </a:rPr>
              <a:t>tidyverse</a:t>
            </a:r>
            <a:r>
              <a:rPr lang="en-US" sz="2000" dirty="0">
                <a:ea typeface="+mn-lt"/>
                <a:cs typeface="+mn-lt"/>
              </a:rPr>
              <a:t> </a:t>
            </a:r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ggplot2 </a:t>
            </a:r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tidycensus </a:t>
            </a:r>
            <a:endParaRPr lang="en-US" sz="2000"/>
          </a:p>
          <a:p>
            <a:pPr marL="0" indent="0">
              <a:buNone/>
            </a:pPr>
            <a:r>
              <a:rPr lang="en-US" sz="2000" b="1"/>
              <a:t>Methods</a:t>
            </a:r>
            <a:endParaRPr lang="en-US" sz="2000"/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Data cleaning </a:t>
            </a:r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Time-series analysis </a:t>
            </a:r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Volatility calculations </a:t>
            </a:r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Data joins </a:t>
            </a:r>
          </a:p>
          <a:p>
            <a:pPr>
              <a:buFont typeface="Arial"/>
            </a:pPr>
            <a:r>
              <a:rPr lang="en-US" sz="2000">
                <a:ea typeface="+mn-lt"/>
                <a:cs typeface="+mn-lt"/>
              </a:rPr>
              <a:t>Affordability analysis</a:t>
            </a:r>
          </a:p>
          <a:p>
            <a:pPr marL="0" indent="0">
              <a:buNone/>
            </a:pP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1860590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BA0BE-8DA9-F0F9-3E77-8FB3513D2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Cleaning &amp; Pre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2E495-40AA-7684-2E54-691B037FC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119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Key Steps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Filtered Montgomery County cities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Converted Zillow data from wide to long format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Standardized date formatting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Cleaned Census city names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Joined Zillow + Census datasets 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Removed missing values 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67BB45A-3034-18CF-7769-C29A7BC5E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554" y="1822777"/>
            <a:ext cx="5810250" cy="205583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265D1E-0F2B-A811-6656-25D13F7C2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5" y="4005580"/>
            <a:ext cx="6334125" cy="243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411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6C70D-7EE2-6F13-88AA-D93AD30BF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600"/>
              <a:t>Exploratory Data Analysis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3C738-40EA-D3C2-9737-442D3760C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Housing prices increased substantially over time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Appreciation varied across cities 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Some markets showed stronger acceleration </a:t>
            </a:r>
            <a:endParaRPr lang="en-US" sz="2200"/>
          </a:p>
          <a:p>
            <a:endParaRPr lang="en-US" sz="2200"/>
          </a:p>
        </p:txBody>
      </p:sp>
      <p:pic>
        <p:nvPicPr>
          <p:cNvPr id="4" name="Picture 3" descr="A graph of different colored lines">
            <a:extLst>
              <a:ext uri="{FF2B5EF4-FFF2-40B4-BE49-F238E27FC236}">
                <a16:creationId xmlns:a16="http://schemas.microsoft.com/office/drawing/2014/main" id="{B74020F7-BEE8-473A-490C-B0AEDC583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75143"/>
            <a:ext cx="6903720" cy="410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25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EE24C5-1D01-D2CD-28BB-3075416C2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EDA Continued 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A88FBD8D-096D-C695-2FDB-0F1FB82B5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422247"/>
            <a:ext cx="7214616" cy="398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543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FEE72-3897-91B7-8AF1-0E4E41E0E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Long Term Growth Analysis 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03F67-3814-00DC-9143-00AA05A46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Certain cities experienced stronger appreciation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Growth varied significantly across the county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Long-term growth became a core investment metric</a:t>
            </a:r>
            <a:endParaRPr lang="en-US" sz="2000"/>
          </a:p>
          <a:p>
            <a:endParaRPr lang="en-US" sz="2000"/>
          </a:p>
        </p:txBody>
      </p:sp>
      <p:pic>
        <p:nvPicPr>
          <p:cNvPr id="4" name="Picture 3" descr="A graph of growth by a number of percents&#10;&#10;AI-generated content may be incorrect.">
            <a:extLst>
              <a:ext uri="{FF2B5EF4-FFF2-40B4-BE49-F238E27FC236}">
                <a16:creationId xmlns:a16="http://schemas.microsoft.com/office/drawing/2014/main" id="{0512F37B-C57C-7E29-AF10-BF6860701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34922"/>
            <a:ext cx="5150277" cy="301291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71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1E53A-21A2-1C98-0A17-2F1DC4E87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VOLATILITY &amp; RISK ANALYSIS</a:t>
            </a:r>
            <a:endParaRPr lang="en-US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2B875-91F3-998A-C86A-223F29B34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>
                <a:ea typeface="+mn-lt"/>
                <a:cs typeface="+mn-lt"/>
              </a:rPr>
              <a:t>Higher growth can involve higher risk </a:t>
            </a:r>
            <a:endParaRPr lang="en-US" sz="2500" dirty="0"/>
          </a:p>
          <a:p>
            <a:r>
              <a:rPr lang="en-US" sz="2500">
                <a:ea typeface="+mn-lt"/>
                <a:cs typeface="+mn-lt"/>
              </a:rPr>
              <a:t>Volatility measures market stability </a:t>
            </a:r>
            <a:endParaRPr lang="en-US" sz="2500" dirty="0"/>
          </a:p>
          <a:p>
            <a:r>
              <a:rPr lang="en-US" sz="2500">
                <a:ea typeface="+mn-lt"/>
                <a:cs typeface="+mn-lt"/>
              </a:rPr>
              <a:t>Some cities balanced growth and stability better </a:t>
            </a:r>
            <a:endParaRPr lang="en-US" sz="2500" dirty="0"/>
          </a:p>
          <a:p>
            <a:endParaRPr lang="en-US" sz="2500" dirty="0"/>
          </a:p>
        </p:txBody>
      </p:sp>
      <p:pic>
        <p:nvPicPr>
          <p:cNvPr id="4" name="Picture 3" descr="A graph showing the number of cities in the united states&#10;&#10;AI-generated content may be incorrect.">
            <a:extLst>
              <a:ext uri="{FF2B5EF4-FFF2-40B4-BE49-F238E27FC236}">
                <a16:creationId xmlns:a16="http://schemas.microsoft.com/office/drawing/2014/main" id="{4DB3B22B-8653-B9F8-4D60-965955D6C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381" y="2570421"/>
            <a:ext cx="5527428" cy="33417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09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D089F3-DE16-BDAA-707E-4BF87FBB1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DEMOGRAPHIC &amp; AFFORDABILITY ANALYSIS</a:t>
            </a:r>
            <a:endParaRPr lang="en-US" sz="4000"/>
          </a:p>
        </p:txBody>
      </p:sp>
      <p:pic>
        <p:nvPicPr>
          <p:cNvPr id="4" name="Picture 3" descr="A graph showing housing growth&#10;&#10;AI-generated content may be incorrect.">
            <a:extLst>
              <a:ext uri="{FF2B5EF4-FFF2-40B4-BE49-F238E27FC236}">
                <a16:creationId xmlns:a16="http://schemas.microsoft.com/office/drawing/2014/main" id="{3018C34B-6893-CA1C-AB63-01B80DDEA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15" y="2159311"/>
            <a:ext cx="6582349" cy="372622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79C44-D030-5C07-78F3-CB810B905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357888"/>
            <a:ext cx="4265370" cy="39026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Compared housing prices relative to income </a:t>
            </a:r>
            <a:endParaRPr lang="en-US" sz="2000" dirty="0"/>
          </a:p>
          <a:p>
            <a:r>
              <a:rPr lang="en-US" sz="2000">
                <a:ea typeface="+mn-lt"/>
                <a:cs typeface="+mn-lt"/>
              </a:rPr>
              <a:t>Population and income influence housing demand 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Affordability pressures differed between cities 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333350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DE37-CE16-4F86-FAB9-E1CF30ABE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FINAL INVESTMENT SCORE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0F98E6-13FE-4FA0-7383-1854EBD403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8425" y="2031837"/>
            <a:ext cx="6842606" cy="42621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AECC2A-3697-DE73-7692-A6BC191499E7}"/>
              </a:ext>
            </a:extLst>
          </p:cNvPr>
          <p:cNvSpPr txBox="1"/>
          <p:nvPr/>
        </p:nvSpPr>
        <p:spPr>
          <a:xfrm>
            <a:off x="1177636" y="1385454"/>
            <a:ext cx="101907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Goal: </a:t>
            </a:r>
            <a:r>
              <a:rPr lang="en-US">
                <a:ea typeface="+mn-lt"/>
                <a:cs typeface="+mn-lt"/>
              </a:rPr>
              <a:t>Develop a more balanced way to evaluate long-term residential investment potential.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B9E67AD8-7D46-68EF-0AFB-3A8F067EE3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048285"/>
              </p:ext>
            </p:extLst>
          </p:nvPr>
        </p:nvGraphicFramePr>
        <p:xfrm>
          <a:off x="600362" y="2032000"/>
          <a:ext cx="4310303" cy="4524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34143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714EC8-B735-6F79-3CA6-F80911945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Investment Score 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Content Placeholder 3" descr="A table of numbers with numbers&#10;&#10;AI-generated content may be incorrect.">
            <a:extLst>
              <a:ext uri="{FF2B5EF4-FFF2-40B4-BE49-F238E27FC236}">
                <a16:creationId xmlns:a16="http://schemas.microsoft.com/office/drawing/2014/main" id="{D147D338-A574-62C2-F2BD-B607D693EA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572" y="2203367"/>
            <a:ext cx="11420856" cy="396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9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6B849-E81C-7D97-49CE-57590B91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Findings &amp; Investment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AE96D-88EC-EF1A-65A2-0E8EAAEFE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/>
              <a:t>Housing prices grew very differently across Montgomery County cities </a:t>
            </a:r>
          </a:p>
          <a:p>
            <a:r>
              <a:rPr lang="en-US" sz="1700"/>
              <a:t>Some cities showed strong long-term growth while remaining more stable over time </a:t>
            </a:r>
          </a:p>
          <a:p>
            <a:r>
              <a:rPr lang="en-US" sz="1700"/>
              <a:t>Expensive housing markets were not always the strongest investment opportunities </a:t>
            </a:r>
          </a:p>
          <a:p>
            <a:r>
              <a:rPr lang="en-US" sz="1700"/>
              <a:t>Smaller cities sometimes ranked highly due to balanced growth and affordability </a:t>
            </a:r>
          </a:p>
          <a:p>
            <a:r>
              <a:rPr lang="en-US" sz="1700"/>
              <a:t>Combining multiple factors created a more complete investment analysis</a:t>
            </a:r>
          </a:p>
          <a:p>
            <a:endParaRPr lang="en-US" sz="17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59A0510-5370-C915-039F-757F109B2187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Chevy Chase ranked among the strongest overall investment markets </a:t>
            </a:r>
          </a:p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Takoma Park experienced some of the fastest long-term appreciation </a:t>
            </a:r>
          </a:p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Bethesda and North Potomac showed strong growth supported by high income levels </a:t>
            </a:r>
          </a:p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Some lower-ranked cities had weaker appreciation trends or limited historical data </a:t>
            </a:r>
          </a:p>
          <a:p>
            <a:pPr marL="285750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700"/>
              <a:t>Population and income trends appeared to support stronger housing demand in top-performing areas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b="1"/>
          </a:p>
        </p:txBody>
      </p:sp>
    </p:spTree>
    <p:extLst>
      <p:ext uri="{BB962C8B-B14F-4D97-AF65-F5344CB8AC3E}">
        <p14:creationId xmlns:p14="http://schemas.microsoft.com/office/powerpoint/2010/main" val="1211175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1667C-34FB-60F2-7149-955B1FE95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3900">
                <a:solidFill>
                  <a:srgbClr val="FFFFFF"/>
                </a:solidFill>
              </a:rPr>
              <a:t>LIMITATIONS &amp; FUTURE IMPROVEMENTS</a:t>
            </a:r>
          </a:p>
          <a:p>
            <a:pPr algn="ctr"/>
            <a:endParaRPr lang="en-US" sz="39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7C06E-6E2F-C099-2CE4-312D7A9C3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Limitations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Zillow values are estimates 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Census data uses survey estimates 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Some geographic matching limitations 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Future Improvements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Interest rates 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Property taxes 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School quality 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Rental vacancy rates 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Cap rates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4981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D22598-D464-0E9A-F1A7-E2132458F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Conclusion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36593-873A-012D-9592-91A7F757F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This project combined housing and demographic data to evaluate long-term residential investment potential across Montgomery County.</a:t>
            </a: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586217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4021AF-CD23-06D3-9720-5CE6B7805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pic>
        <p:nvPicPr>
          <p:cNvPr id="7" name="Graphic 6" descr="Question mark">
            <a:extLst>
              <a:ext uri="{FF2B5EF4-FFF2-40B4-BE49-F238E27FC236}">
                <a16:creationId xmlns:a16="http://schemas.microsoft.com/office/drawing/2014/main" id="{D439EF97-F2AB-3D54-77BF-F9D0D8BDD5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Question mark">
            <a:extLst>
              <a:ext uri="{FF2B5EF4-FFF2-40B4-BE49-F238E27FC236}">
                <a16:creationId xmlns:a16="http://schemas.microsoft.com/office/drawing/2014/main" id="{FC2D8D63-E50E-4A73-A980-0B794A428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42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2E261-9A07-42D4-2B5E-F6C195A57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Acknowledgements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40B8A1-6BF5-A563-E49E-37747895B2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817043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5710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FCBFF8-56E7-7B2B-D186-E5C8C128F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Sources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D0238-9360-FC1D-48FD-C0B7B203E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Zillow Research — Zillow Home Value Index (ZHVI)</a:t>
            </a:r>
          </a:p>
          <a:p>
            <a:r>
              <a:rPr lang="en-US" dirty="0">
                <a:ea typeface="+mn-lt"/>
                <a:cs typeface="+mn-lt"/>
                <a:hlinkClick r:id="rId2"/>
              </a:rPr>
              <a:t>https://www.zillow.com/research/data/</a:t>
            </a:r>
            <a:endParaRPr lang="en-US">
              <a:ea typeface="+mn-lt"/>
              <a:cs typeface="+mn-lt"/>
            </a:endParaRPr>
          </a:p>
          <a:p>
            <a:r>
              <a:rPr lang="en-US"/>
              <a:t>United States Census Bureau — American Community Survey (ACS)</a:t>
            </a:r>
          </a:p>
          <a:p>
            <a:r>
              <a:rPr lang="en-US" dirty="0">
                <a:ea typeface="+mn-lt"/>
                <a:cs typeface="+mn-lt"/>
                <a:hlinkClick r:id="rId3"/>
              </a:rPr>
              <a:t>https://www.census.gov/programs-surveys/acs</a:t>
            </a:r>
            <a:endParaRPr lang="en-US">
              <a:ea typeface="+mn-lt"/>
              <a:cs typeface="+mn-lt"/>
            </a:endParaRPr>
          </a:p>
          <a:p>
            <a:r>
              <a:rPr lang="en-US" dirty="0" err="1"/>
              <a:t>tidycensus</a:t>
            </a:r>
            <a:r>
              <a:rPr lang="en-US" dirty="0"/>
              <a:t> Documentation</a:t>
            </a:r>
          </a:p>
          <a:p>
            <a:r>
              <a:rPr lang="en-US" dirty="0">
                <a:ea typeface="+mn-lt"/>
                <a:cs typeface="+mn-lt"/>
                <a:hlinkClick r:id="rId4"/>
              </a:rPr>
              <a:t>https://walker-data.com/tidycensus/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811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Analyzing Long-Term Residential Investment Potential in Montgomery County, Maryland</vt:lpstr>
      <vt:lpstr>Introduction/Overview</vt:lpstr>
      <vt:lpstr>Data Sources</vt:lpstr>
      <vt:lpstr>Tools &amp; Methods</vt:lpstr>
      <vt:lpstr>Data Cleaning &amp; Pre Processing</vt:lpstr>
      <vt:lpstr>Exploratory Data Analysis</vt:lpstr>
      <vt:lpstr>EDA Continued </vt:lpstr>
      <vt:lpstr>Long Term Growth Analysis </vt:lpstr>
      <vt:lpstr>VOLATILITY &amp; RISK ANALYSIS</vt:lpstr>
      <vt:lpstr>DEMOGRAPHIC &amp; AFFORDABILITY ANALYSIS</vt:lpstr>
      <vt:lpstr>FINAL INVESTMENT SCORE</vt:lpstr>
      <vt:lpstr>Investment Score </vt:lpstr>
      <vt:lpstr>Key Findings &amp; Investment Insights</vt:lpstr>
      <vt:lpstr>LIMITATIONS &amp; FUTURE IMPROVEMENTS </vt:lpstr>
      <vt:lpstr>Conclusion</vt:lpstr>
      <vt:lpstr>Questions?</vt:lpstr>
      <vt:lpstr>Acknowledgements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231</cp:revision>
  <dcterms:created xsi:type="dcterms:W3CDTF">2013-07-15T20:26:40Z</dcterms:created>
  <dcterms:modified xsi:type="dcterms:W3CDTF">2026-05-11T15:30:02Z</dcterms:modified>
</cp:coreProperties>
</file>